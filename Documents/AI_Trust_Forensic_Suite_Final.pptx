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2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3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74" r:id="rId15"/>
    <p:sldId id="275" r:id="rId16"/>
    <p:sldId id="276" r:id="rId17"/>
    <p:sldId id="272" r:id="rId18"/>
    <p:sldId id="270" r:id="rId19"/>
    <p:sldId id="271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Images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43A-4389-B34F-58FA25A67756}"/>
              </c:ext>
            </c:extLst>
          </c:dPt>
          <c:dPt>
            <c:idx val="1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43A-4389-B34F-58FA25A67756}"/>
              </c:ext>
            </c:extLst>
          </c:dPt>
          <c:dPt>
            <c:idx val="2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43A-4389-B34F-58FA25A67756}"/>
              </c:ext>
            </c:extLst>
          </c:dPt>
          <c:dPt>
            <c:idx val="3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43A-4389-B34F-58FA25A67756}"/>
              </c:ext>
            </c:extLst>
          </c:dPt>
          <c:dPt>
            <c:idx val="4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43A-4389-B34F-58FA25A67756}"/>
              </c:ext>
            </c:extLst>
          </c:dPt>
          <c:dPt>
            <c:idx val="5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43A-4389-B34F-58FA25A67756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Real (Authentic)</c:v>
                </c:pt>
                <c:pt idx="1">
                  <c:v>Stable Diffusion 2.1</c:v>
                </c:pt>
                <c:pt idx="2">
                  <c:v>Stable Diffusion XL</c:v>
                </c:pt>
                <c:pt idx="3">
                  <c:v>Stable Diffusion 3</c:v>
                </c:pt>
                <c:pt idx="4">
                  <c:v>DALL·E 3</c:v>
                </c:pt>
                <c:pt idx="5">
                  <c:v>Midjourney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7000</c:v>
                </c:pt>
                <c:pt idx="1">
                  <c:v>7500</c:v>
                </c:pt>
                <c:pt idx="2">
                  <c:v>7500</c:v>
                </c:pt>
                <c:pt idx="3">
                  <c:v>7500</c:v>
                </c:pt>
                <c:pt idx="4">
                  <c:v>7500</c:v>
                </c:pt>
                <c:pt idx="5">
                  <c:v>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43A-4389-B34F-58FA25A6775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CBD5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41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0F4F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 Recall (%)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Run 1 Baseline</c:v>
                </c:pt>
                <c:pt idx="1">
                  <c:v>Run 2 Fixed</c:v>
                </c:pt>
                <c:pt idx="2">
                  <c:v>Run 3 Final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48.4</c:v>
                </c:pt>
                <c:pt idx="1">
                  <c:v>55</c:v>
                </c:pt>
                <c:pt idx="2">
                  <c:v>53.4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D6-4C5F-AA52-DEB8073C9E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Head B Accuracy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Run 1 Baseline</c:v>
                </c:pt>
                <c:pt idx="1">
                  <c:v>Run 2 Fixed</c:v>
                </c:pt>
                <c:pt idx="2">
                  <c:v>Run 3 Final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44.7</c:v>
                </c:pt>
                <c:pt idx="1">
                  <c:v>44.8</c:v>
                </c:pt>
                <c:pt idx="2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6D6-4C5F-AA52-DEB8073C9E7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D1B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0224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datscapstoneproject.streamlit.app/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AI-Trust Forensic Suite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Detection &amp; Attribution of AI-Generated Images</a:t>
            </a:r>
            <a:endParaRPr lang="en-US" sz="1800" dirty="0"/>
          </a:p>
          <a:p>
            <a:pPr marL="0" indent="0" algn="l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Explainable AI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069080"/>
            <a:ext cx="9144000" cy="10744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Hussain Nathani</a:t>
            </a:r>
            <a:r>
              <a:rPr lang="en-US" sz="13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GWID: G36308827   |   DATS 6499 Capstone   |   GWU - Spring 2026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Prof. Yuxiao (James) Huang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Synthetic Media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481328"/>
            <a:ext cx="8321040" cy="2487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models (DALL·E 3, Midjourney, Stable Diffusion) now produce images indistinguishable from real photographs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Misinformation risk is rapidly expanding across social media, journalism, and legal evidence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commercial detectors (Undetectable.ai, Sightengine, Decopy.ai) return only a binary score — no explanation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operate as black boxes: no visual evidence, no source attribution — just a number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11480" y="4114800"/>
            <a:ext cx="832104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4169664"/>
            <a:ext cx="795528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problem isn't just detecting AI images — it's that current tools give you a number and nothing else."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 — What's Missing?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4236105"/>
              </p:ext>
            </p:extLst>
          </p:nvPr>
        </p:nvGraphicFramePr>
        <p:xfrm>
          <a:off x="411480" y="1811216"/>
          <a:ext cx="8321040" cy="26517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Undetectable.ai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Sightengine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Decopy.ai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Suite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Binary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 Attribution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 Explanation (XAI)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Source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Defactify (96,000 Images)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9F3DBC6-99A5-13C9-F90B-CBDDA0BA7861}"/>
              </a:ext>
            </a:extLst>
          </p:cNvPr>
          <p:cNvGrpSpPr/>
          <p:nvPr/>
        </p:nvGrpSpPr>
        <p:grpSpPr>
          <a:xfrm>
            <a:off x="411480" y="1481328"/>
            <a:ext cx="4744329" cy="2898648"/>
            <a:chOff x="411480" y="1481328"/>
            <a:chExt cx="8321040" cy="2286000"/>
          </a:xfrm>
        </p:grpSpPr>
        <p:sp>
          <p:nvSpPr>
            <p:cNvPr id="5" name="Shape 3"/>
            <p:cNvSpPr/>
            <p:nvPr/>
          </p:nvSpPr>
          <p:spPr>
            <a:xfrm>
              <a:off x="411480" y="1481328"/>
              <a:ext cx="2651760" cy="1051560"/>
            </a:xfrm>
            <a:prstGeom prst="rect">
              <a:avLst/>
            </a:prstGeom>
            <a:solidFill>
              <a:srgbClr val="1A3A6B"/>
            </a:solidFill>
            <a:ln/>
            <a:effectLst>
              <a:outerShdw blurRad="101600" dist="254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Shape 4"/>
            <p:cNvSpPr/>
            <p:nvPr/>
          </p:nvSpPr>
          <p:spPr>
            <a:xfrm>
              <a:off x="411480" y="1481328"/>
              <a:ext cx="64008" cy="1051560"/>
            </a:xfrm>
            <a:prstGeom prst="rect">
              <a:avLst/>
            </a:prstGeom>
            <a:solidFill>
              <a:srgbClr val="22C55E"/>
            </a:solidFill>
            <a:ln w="12700">
              <a:solidFill>
                <a:srgbClr val="22C55E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548640" y="1554480"/>
              <a:ext cx="2468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 Photos</a:t>
              </a:r>
              <a:endParaRPr lang="en-US" sz="13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548640" y="202996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~7,500 images per class</a:t>
              </a:r>
              <a:endParaRPr lang="en-US" sz="1100" dirty="0"/>
            </a:p>
          </p:txBody>
        </p:sp>
        <p:sp>
          <p:nvSpPr>
            <p:cNvPr id="9" name="Shape 7"/>
            <p:cNvSpPr/>
            <p:nvPr/>
          </p:nvSpPr>
          <p:spPr>
            <a:xfrm>
              <a:off x="3246120" y="1481328"/>
              <a:ext cx="2651760" cy="1051560"/>
            </a:xfrm>
            <a:prstGeom prst="rect">
              <a:avLst/>
            </a:prstGeom>
            <a:solidFill>
              <a:srgbClr val="1A3A6B"/>
            </a:solidFill>
            <a:ln/>
            <a:effectLst>
              <a:outerShdw blurRad="101600" dist="254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Shape 8"/>
            <p:cNvSpPr/>
            <p:nvPr/>
          </p:nvSpPr>
          <p:spPr>
            <a:xfrm>
              <a:off x="3246120" y="1481328"/>
              <a:ext cx="64008" cy="1051560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9"/>
            <p:cNvSpPr/>
            <p:nvPr/>
          </p:nvSpPr>
          <p:spPr>
            <a:xfrm>
              <a:off x="3383280" y="1554480"/>
              <a:ext cx="2468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Stable Diffusion 2.1</a:t>
              </a:r>
              <a:endParaRPr lang="en-US" sz="13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3383280" y="202996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~7,500 images per class</a:t>
              </a:r>
              <a:endParaRPr lang="en-US" sz="11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6080760" y="1481328"/>
              <a:ext cx="2651760" cy="1051560"/>
            </a:xfrm>
            <a:prstGeom prst="rect">
              <a:avLst/>
            </a:prstGeom>
            <a:solidFill>
              <a:srgbClr val="1A3A6B"/>
            </a:solidFill>
            <a:ln/>
            <a:effectLst>
              <a:outerShdw blurRad="101600" dist="254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Shape 12"/>
            <p:cNvSpPr/>
            <p:nvPr/>
          </p:nvSpPr>
          <p:spPr>
            <a:xfrm>
              <a:off x="6080760" y="1481328"/>
              <a:ext cx="64008" cy="1051560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 13"/>
            <p:cNvSpPr/>
            <p:nvPr/>
          </p:nvSpPr>
          <p:spPr>
            <a:xfrm>
              <a:off x="6217920" y="1554480"/>
              <a:ext cx="2468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Stable Diffusion XL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6217920" y="202996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~7,500 images per class</a:t>
              </a:r>
              <a:endParaRPr lang="en-US" sz="11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11480" y="2715768"/>
              <a:ext cx="2651760" cy="1051560"/>
            </a:xfrm>
            <a:prstGeom prst="rect">
              <a:avLst/>
            </a:prstGeom>
            <a:solidFill>
              <a:srgbClr val="1A3A6B"/>
            </a:solidFill>
            <a:ln/>
            <a:effectLst>
              <a:outerShdw blurRad="101600" dist="254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Shape 16"/>
            <p:cNvSpPr/>
            <p:nvPr/>
          </p:nvSpPr>
          <p:spPr>
            <a:xfrm>
              <a:off x="411480" y="2715768"/>
              <a:ext cx="64008" cy="1051560"/>
            </a:xfrm>
            <a:prstGeom prst="rect">
              <a:avLst/>
            </a:prstGeom>
            <a:solidFill>
              <a:srgbClr val="0891B2"/>
            </a:solidFill>
            <a:ln w="12700">
              <a:solidFill>
                <a:srgbClr val="0891B2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7"/>
            <p:cNvSpPr/>
            <p:nvPr/>
          </p:nvSpPr>
          <p:spPr>
            <a:xfrm>
              <a:off x="548640" y="2788920"/>
              <a:ext cx="2468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Stable Diffusion 3</a:t>
              </a:r>
              <a:endParaRPr lang="en-US" sz="13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48640" y="326440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~7,500 images per class</a:t>
              </a:r>
              <a:endParaRPr lang="en-US" sz="1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246120" y="2715768"/>
              <a:ext cx="2651760" cy="1051560"/>
            </a:xfrm>
            <a:prstGeom prst="rect">
              <a:avLst/>
            </a:prstGeom>
            <a:solidFill>
              <a:srgbClr val="1A3A6B"/>
            </a:solidFill>
            <a:ln/>
            <a:effectLst>
              <a:outerShdw blurRad="101600" dist="254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Shape 20"/>
            <p:cNvSpPr/>
            <p:nvPr/>
          </p:nvSpPr>
          <p:spPr>
            <a:xfrm>
              <a:off x="3246120" y="2715768"/>
              <a:ext cx="64008" cy="105156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 21"/>
            <p:cNvSpPr/>
            <p:nvPr/>
          </p:nvSpPr>
          <p:spPr>
            <a:xfrm>
              <a:off x="3383280" y="2788920"/>
              <a:ext cx="2468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DALL·E 3</a:t>
              </a:r>
              <a:endParaRPr lang="en-US" sz="1300" dirty="0"/>
            </a:p>
          </p:txBody>
        </p:sp>
        <p:sp>
          <p:nvSpPr>
            <p:cNvPr id="24" name="Text 22"/>
            <p:cNvSpPr/>
            <p:nvPr/>
          </p:nvSpPr>
          <p:spPr>
            <a:xfrm>
              <a:off x="3383280" y="326440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~7,500 images per class</a:t>
              </a:r>
              <a:endParaRPr lang="en-US" sz="11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6080760" y="2715768"/>
              <a:ext cx="2651760" cy="1051560"/>
            </a:xfrm>
            <a:prstGeom prst="rect">
              <a:avLst/>
            </a:prstGeom>
            <a:solidFill>
              <a:srgbClr val="1A3A6B"/>
            </a:solidFill>
            <a:ln/>
            <a:effectLst>
              <a:outerShdw blurRad="101600" dist="254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24"/>
            <p:cNvSpPr/>
            <p:nvPr/>
          </p:nvSpPr>
          <p:spPr>
            <a:xfrm>
              <a:off x="6080760" y="2715768"/>
              <a:ext cx="64008" cy="1051560"/>
            </a:xfrm>
            <a:prstGeom prst="rect">
              <a:avLst/>
            </a:prstGeom>
            <a:solidFill>
              <a:srgbClr val="F59E0B"/>
            </a:solidFill>
            <a:ln w="12700">
              <a:solidFill>
                <a:srgbClr val="F59E0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Text 25"/>
            <p:cNvSpPr/>
            <p:nvPr/>
          </p:nvSpPr>
          <p:spPr>
            <a:xfrm>
              <a:off x="6217920" y="2788920"/>
              <a:ext cx="24688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Midjourney</a:t>
              </a:r>
              <a:endParaRPr lang="en-US" sz="130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6217920" y="3264408"/>
              <a:ext cx="246888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~7,500 images per class</a:t>
              </a:r>
              <a:endParaRPr lang="en-US" sz="1100" dirty="0"/>
            </a:p>
          </p:txBody>
        </p:sp>
      </p:grpSp>
      <p:sp>
        <p:nvSpPr>
          <p:cNvPr id="29" name="Text 27"/>
          <p:cNvSpPr/>
          <p:nvPr/>
        </p:nvSpPr>
        <p:spPr>
          <a:xfrm>
            <a:off x="411480" y="452628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Split:  42,000 Train  /  9,000 Validation  /  45,000 Test   —   Source: HuggingFace</a:t>
            </a:r>
            <a:endParaRPr lang="en-US" sz="1100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74B776F7-DF45-22C9-8123-426D68426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393" y="1464094"/>
            <a:ext cx="3051315" cy="30513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VISUAL CHALLENGE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Tell What's Real?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11480" y="1335024"/>
            <a:ext cx="457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389888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images of the same subject — only 1 is a real photograph. The rest are AI-generated.</a:t>
            </a:r>
            <a:endParaRPr lang="en-US" sz="1400" dirty="0"/>
          </a:p>
        </p:txBody>
      </p:sp>
      <p:pic>
        <p:nvPicPr>
          <p:cNvPr id="6" name="Image 0" descr="/home/claude/eda_grid_cropp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783080"/>
            <a:ext cx="8321040" cy="3063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81888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why we need machine learning — the human eye can no longer reliably distinguish AI-generated content.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Challenge: 1 : 5 Class Imbalance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25935817"/>
              </p:ext>
            </p:extLst>
          </p:nvPr>
        </p:nvGraphicFramePr>
        <p:xfrm>
          <a:off x="411480" y="1463040"/>
          <a:ext cx="4209757" cy="22997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964654AB-5A93-3DD0-D17B-5837B217F5CB}"/>
              </a:ext>
            </a:extLst>
          </p:cNvPr>
          <p:cNvGrpSpPr/>
          <p:nvPr/>
        </p:nvGrpSpPr>
        <p:grpSpPr>
          <a:xfrm>
            <a:off x="349933" y="3909060"/>
            <a:ext cx="2405575" cy="914400"/>
            <a:chOff x="5760720" y="1508760"/>
            <a:chExt cx="2880360" cy="914400"/>
          </a:xfrm>
        </p:grpSpPr>
        <p:sp>
          <p:nvSpPr>
            <p:cNvPr id="6" name="Shape 3"/>
            <p:cNvSpPr/>
            <p:nvPr/>
          </p:nvSpPr>
          <p:spPr>
            <a:xfrm>
              <a:off x="5760720" y="1508760"/>
              <a:ext cx="2880360" cy="914400"/>
            </a:xfrm>
            <a:prstGeom prst="rect">
              <a:avLst/>
            </a:prstGeom>
            <a:solidFill>
              <a:srgbClr val="0D1B3E"/>
            </a:solidFill>
            <a:ln/>
            <a:effectLst>
              <a:outerShdw blurRad="101600" dist="254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4"/>
            <p:cNvSpPr/>
            <p:nvPr/>
          </p:nvSpPr>
          <p:spPr>
            <a:xfrm>
              <a:off x="5760720" y="1554480"/>
              <a:ext cx="28803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16.7%</a:t>
              </a:r>
              <a:endParaRPr lang="en-US" sz="28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760720" y="2011680"/>
              <a:ext cx="2880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 images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 training set</a:t>
              </a:r>
              <a:endParaRPr lang="en-US" sz="11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B6870E2-AC13-D2A4-33F4-9CAFDF210331}"/>
              </a:ext>
            </a:extLst>
          </p:cNvPr>
          <p:cNvGrpSpPr/>
          <p:nvPr/>
        </p:nvGrpSpPr>
        <p:grpSpPr>
          <a:xfrm>
            <a:off x="3369212" y="3886903"/>
            <a:ext cx="2405575" cy="914400"/>
            <a:chOff x="5760720" y="2651760"/>
            <a:chExt cx="2880360" cy="914400"/>
          </a:xfrm>
        </p:grpSpPr>
        <p:sp>
          <p:nvSpPr>
            <p:cNvPr id="9" name="Shape 6"/>
            <p:cNvSpPr/>
            <p:nvPr/>
          </p:nvSpPr>
          <p:spPr>
            <a:xfrm>
              <a:off x="5760720" y="2651760"/>
              <a:ext cx="2880360" cy="914400"/>
            </a:xfrm>
            <a:prstGeom prst="rect">
              <a:avLst/>
            </a:prstGeom>
            <a:solidFill>
              <a:srgbClr val="0D1B3E"/>
            </a:solidFill>
            <a:ln/>
            <a:effectLst>
              <a:outerShdw blurRad="101600" dist="254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 7"/>
            <p:cNvSpPr/>
            <p:nvPr/>
          </p:nvSpPr>
          <p:spPr>
            <a:xfrm>
              <a:off x="5760720" y="2697480"/>
              <a:ext cx="28803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0891B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83.3%</a:t>
              </a:r>
              <a:endParaRPr lang="en-US" sz="28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5760720" y="3154680"/>
              <a:ext cx="2880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AI-Generated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images</a:t>
              </a:r>
              <a:endParaRPr lang="en-US" sz="1100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4739809-4A95-D0EE-76E6-265420E444B1}"/>
              </a:ext>
            </a:extLst>
          </p:cNvPr>
          <p:cNvGrpSpPr/>
          <p:nvPr/>
        </p:nvGrpSpPr>
        <p:grpSpPr>
          <a:xfrm>
            <a:off x="6388492" y="3886200"/>
            <a:ext cx="2405575" cy="914400"/>
            <a:chOff x="5760720" y="3794760"/>
            <a:chExt cx="2880360" cy="914400"/>
          </a:xfrm>
        </p:grpSpPr>
        <p:sp>
          <p:nvSpPr>
            <p:cNvPr id="12" name="Shape 9"/>
            <p:cNvSpPr/>
            <p:nvPr/>
          </p:nvSpPr>
          <p:spPr>
            <a:xfrm>
              <a:off x="5760720" y="3794760"/>
              <a:ext cx="2880360" cy="914400"/>
            </a:xfrm>
            <a:prstGeom prst="rect">
              <a:avLst/>
            </a:prstGeom>
            <a:solidFill>
              <a:srgbClr val="0D1B3E"/>
            </a:solidFill>
            <a:ln/>
            <a:effectLst>
              <a:outerShdw blurRad="101600" dist="254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0"/>
            <p:cNvSpPr/>
            <p:nvPr/>
          </p:nvSpPr>
          <p:spPr>
            <a:xfrm>
              <a:off x="5760720" y="3840480"/>
              <a:ext cx="288036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800" b="1" dirty="0">
                  <a:solidFill>
                    <a:srgbClr val="EF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83%</a:t>
              </a:r>
              <a:endParaRPr lang="en-US" sz="28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760720" y="4297680"/>
              <a:ext cx="288036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Naive model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accuracy (shortcut)</a:t>
              </a:r>
              <a:endParaRPr lang="en-US" sz="1100" dirty="0"/>
            </a:p>
          </p:txBody>
        </p: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E786F2C6-0B29-770A-2C05-E368614AC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218" y="1460415"/>
            <a:ext cx="3679545" cy="2299716"/>
          </a:xfrm>
          <a:prstGeom prst="rect">
            <a:avLst/>
          </a:prstGeom>
          <a:solidFill>
            <a:schemeClr val="tx1"/>
          </a:solidFill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Multi-Task Vision Transformer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91840" y="1417320"/>
            <a:ext cx="2560320" cy="59436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91840" y="146304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Image  (224 × 224)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2011680"/>
            <a:ext cx="0" cy="32004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926080" y="2331720"/>
            <a:ext cx="3291840" cy="685800"/>
          </a:xfrm>
          <a:prstGeom prst="rect">
            <a:avLst/>
          </a:prstGeom>
          <a:solidFill>
            <a:srgbClr val="0891B2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926080" y="2377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ViT-Base/16 Backbone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26700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ImageNet-21k pretrained  |  12 Attention Layers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3017520"/>
            <a:ext cx="0" cy="22860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160520" y="3246120"/>
            <a:ext cx="822960" cy="45720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926080" y="3474720"/>
            <a:ext cx="16459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3474720"/>
            <a:ext cx="1645920" cy="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160520" y="3273552"/>
            <a:ext cx="822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[CLS]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26080" y="3474720"/>
            <a:ext cx="0" cy="27432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217920" y="3474720"/>
            <a:ext cx="0" cy="27432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1920240" y="3749040"/>
            <a:ext cx="2011680" cy="914400"/>
          </a:xfrm>
          <a:prstGeom prst="rect">
            <a:avLst/>
          </a:prstGeom>
          <a:solidFill>
            <a:srgbClr val="1D4ED8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192024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20240" y="40965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Detection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vs AI-Generated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3749040"/>
            <a:ext cx="2011680" cy="914400"/>
          </a:xfrm>
          <a:prstGeom prst="rect">
            <a:avLst/>
          </a:prstGeom>
          <a:solidFill>
            <a:srgbClr val="047857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21208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12080" y="40965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6-Class Attribution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0F4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AI Generator?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29400" y="2331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forward pass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BOTH heads</a:t>
            </a:r>
            <a:endParaRPr lang="en-US" sz="1100" dirty="0"/>
          </a:p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simultaneously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&amp; Layer Freezing Strategy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554480"/>
            <a:ext cx="585216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106424" y="1554480"/>
            <a:ext cx="585216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106424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06424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❄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801368" y="1554480"/>
            <a:ext cx="585216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801368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801368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❄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496312" y="1554480"/>
            <a:ext cx="585216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496312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96312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❄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91256" y="1554480"/>
            <a:ext cx="585216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191256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191256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❄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886200" y="1554480"/>
            <a:ext cx="585216" cy="2011680"/>
          </a:xfrm>
          <a:prstGeom prst="rect">
            <a:avLst/>
          </a:prstGeom>
          <a:solidFill>
            <a:srgbClr val="1E3A5F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886200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886200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❄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81144" y="1554480"/>
            <a:ext cx="585216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581144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81144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276088" y="1554480"/>
            <a:ext cx="585216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276088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L8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76088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971032" y="1554480"/>
            <a:ext cx="585216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71032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971032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665976" y="1554480"/>
            <a:ext cx="585216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665976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665976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360920" y="1554480"/>
            <a:ext cx="585216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360920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360920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055864" y="1554480"/>
            <a:ext cx="585216" cy="2011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8055864" y="1600200"/>
            <a:ext cx="5852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55864" y="2103120"/>
            <a:ext cx="585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🔥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122389" y="4590288"/>
            <a:ext cx="1971587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86M Parameters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ViT-Base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742284" y="4510277"/>
            <a:ext cx="6976872" cy="548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to train from scratch on 42k images. Freezing early layers lets us leverage ImageNet knowledge while fine-tuning only forensic-relevant features.</a:t>
            </a:r>
            <a:endParaRPr lang="en-US" sz="12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10BFBFB-0888-CA63-9E40-C3FC0322E0F3}"/>
              </a:ext>
            </a:extLst>
          </p:cNvPr>
          <p:cNvGrpSpPr/>
          <p:nvPr/>
        </p:nvGrpSpPr>
        <p:grpSpPr>
          <a:xfrm>
            <a:off x="384048" y="3931920"/>
            <a:ext cx="8348472" cy="548640"/>
            <a:chOff x="384048" y="3566160"/>
            <a:chExt cx="8348472" cy="548640"/>
          </a:xfrm>
        </p:grpSpPr>
        <p:sp>
          <p:nvSpPr>
            <p:cNvPr id="46" name="Shape 39">
              <a:extLst>
                <a:ext uri="{FF2B5EF4-FFF2-40B4-BE49-F238E27FC236}">
                  <a16:creationId xmlns:a16="http://schemas.microsoft.com/office/drawing/2014/main" id="{B14547A6-9F36-F2B4-2E80-48BDA351DA8A}"/>
                </a:ext>
              </a:extLst>
            </p:cNvPr>
            <p:cNvSpPr/>
            <p:nvPr/>
          </p:nvSpPr>
          <p:spPr>
            <a:xfrm>
              <a:off x="384048" y="3566160"/>
              <a:ext cx="4206240" cy="548640"/>
            </a:xfrm>
            <a:prstGeom prst="rect">
              <a:avLst/>
            </a:prstGeom>
            <a:solidFill>
              <a:srgbClr val="1C2E50"/>
            </a:solidFill>
            <a:ln/>
            <a:effectLst>
              <a:outerShdw blurRad="1016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Shape 40">
              <a:extLst>
                <a:ext uri="{FF2B5EF4-FFF2-40B4-BE49-F238E27FC236}">
                  <a16:creationId xmlns:a16="http://schemas.microsoft.com/office/drawing/2014/main" id="{5AA5AECB-C6F1-99A1-460A-248C37AD8A49}"/>
                </a:ext>
              </a:extLst>
            </p:cNvPr>
            <p:cNvSpPr/>
            <p:nvPr/>
          </p:nvSpPr>
          <p:spPr>
            <a:xfrm>
              <a:off x="384048" y="3566160"/>
              <a:ext cx="64008" cy="548640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8" name="Text 41">
              <a:extLst>
                <a:ext uri="{FF2B5EF4-FFF2-40B4-BE49-F238E27FC236}">
                  <a16:creationId xmlns:a16="http://schemas.microsoft.com/office/drawing/2014/main" id="{35688BF4-2887-AB66-9780-0FB9B9D17D05}"/>
                </a:ext>
              </a:extLst>
            </p:cNvPr>
            <p:cNvSpPr/>
            <p:nvPr/>
          </p:nvSpPr>
          <p:spPr>
            <a:xfrm>
              <a:off x="548640" y="3621024"/>
              <a:ext cx="39776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Layers 1–6: FROZEN  ❄  Generic visual features (edges, textures, shapes)</a:t>
              </a:r>
              <a:endParaRPr lang="en-US" sz="1200" dirty="0"/>
            </a:p>
          </p:txBody>
        </p:sp>
        <p:sp>
          <p:nvSpPr>
            <p:cNvPr id="49" name="Shape 42">
              <a:extLst>
                <a:ext uri="{FF2B5EF4-FFF2-40B4-BE49-F238E27FC236}">
                  <a16:creationId xmlns:a16="http://schemas.microsoft.com/office/drawing/2014/main" id="{F2ADE39B-74AB-B424-EC8B-5743DE00F4E5}"/>
                </a:ext>
              </a:extLst>
            </p:cNvPr>
            <p:cNvSpPr/>
            <p:nvPr/>
          </p:nvSpPr>
          <p:spPr>
            <a:xfrm>
              <a:off x="4754880" y="3566160"/>
              <a:ext cx="3977640" cy="548640"/>
            </a:xfrm>
            <a:prstGeom prst="rect">
              <a:avLst/>
            </a:prstGeom>
            <a:solidFill>
              <a:srgbClr val="0E4054"/>
            </a:solidFill>
            <a:ln/>
            <a:effectLst>
              <a:outerShdw blurRad="1016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Shape 43">
              <a:extLst>
                <a:ext uri="{FF2B5EF4-FFF2-40B4-BE49-F238E27FC236}">
                  <a16:creationId xmlns:a16="http://schemas.microsoft.com/office/drawing/2014/main" id="{0A428846-432E-926F-FBA1-6E1048CC0DC6}"/>
                </a:ext>
              </a:extLst>
            </p:cNvPr>
            <p:cNvSpPr/>
            <p:nvPr/>
          </p:nvSpPr>
          <p:spPr>
            <a:xfrm>
              <a:off x="4754880" y="3566160"/>
              <a:ext cx="64008" cy="548640"/>
            </a:xfrm>
            <a:prstGeom prst="rect">
              <a:avLst/>
            </a:prstGeom>
            <a:solidFill>
              <a:srgbClr val="06B6D4"/>
            </a:solidFill>
            <a:ln w="12700">
              <a:solidFill>
                <a:srgbClr val="06B6D4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Text 44">
              <a:extLst>
                <a:ext uri="{FF2B5EF4-FFF2-40B4-BE49-F238E27FC236}">
                  <a16:creationId xmlns:a16="http://schemas.microsoft.com/office/drawing/2014/main" id="{2C8EE9E0-AAB6-B0CD-E9BC-51860331ADDF}"/>
                </a:ext>
              </a:extLst>
            </p:cNvPr>
            <p:cNvSpPr/>
            <p:nvPr/>
          </p:nvSpPr>
          <p:spPr>
            <a:xfrm>
              <a:off x="4919472" y="3621024"/>
              <a:ext cx="3749040" cy="4389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06B6D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Layers 7–12: TRAINABLE  🔥  Forensic-specific features learned here</a:t>
              </a:r>
              <a:endParaRPr lang="en-US" sz="1200" dirty="0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 — BASELINE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Results: The Model Is Biased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508760"/>
            <a:ext cx="4023360" cy="13258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5819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2167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half of authentic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identified correctly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13258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63440" y="158191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86.3%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663440" y="216712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 Recall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4231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biased toward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1480" y="3017520"/>
            <a:ext cx="4023360" cy="13258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0906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44.7%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11480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B Accuracy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11480" y="3931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attribution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(random = 16.7%)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023360" cy="132588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63440" y="3090672"/>
            <a:ext cx="4023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663440" y="367588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Train/Val Loss Gap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39319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overfitting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config: 10 epochs | LR 2e-5 | 8/12 layers frozen | Unweighted loss</a:t>
            </a:r>
            <a:endParaRPr lang="en-US" sz="1100" dirty="0">
              <a:solidFill>
                <a:srgbClr val="0D1B3E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Went Wrong? Three Root Causes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463040"/>
            <a:ext cx="8321040" cy="100584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234440" y="1536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Bias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188366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1:5 ratio (Real : AI) in training. Equal-weight loss lets the model take the easy shortcut of predicting 'AI' for everything.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Weighted CrossEntropyLoss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2606040"/>
            <a:ext cx="8321040" cy="100584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02920" y="267919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234440" y="2679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Model Capacity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02666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of 12 layers frozen leaves only 4 layers to learn subtle generator fingerprints — not enough.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94960" y="2834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Unfreeze more layers (→6)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749040"/>
            <a:ext cx="8321040" cy="100584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02920" y="3822192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234440" y="382219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4169664"/>
            <a:ext cx="4114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is 3× lower than validation loss. Model memorizes training images instead of learning transferable patterns.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94960" y="3977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L1 + L2 Regularization + Label Smoothing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 — TARGETED FIXES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2: Targeted Corrections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508760"/>
          <a:ext cx="8321040" cy="2852928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1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2 Fixed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Weights (Head 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[1.0, 1.0]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[5.0, 1.0]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Penalize Real misclassification 5× more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Layers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/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/ 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capacity for generator fingerprints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 Decay (L2)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 stronger regularization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L1 Regularization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= 1e-5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Encourage sparse, generalizable weights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Smoothing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 overconfident predictions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Experiments: Progressive Improvement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graphicFrame>
        <p:nvGraphicFramePr>
          <p:cNvPr id="5" name="Chart 0"/>
          <p:cNvGraphicFramePr/>
          <p:nvPr/>
        </p:nvGraphicFramePr>
        <p:xfrm>
          <a:off x="411480" y="1463040"/>
          <a:ext cx="54864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6689187" y="1385316"/>
            <a:ext cx="152634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Wins  Run 2 → 3</a:t>
            </a:r>
            <a:endParaRPr lang="en-US" sz="14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CBDDBF-BFFC-22B9-5BFB-935223DC5275}"/>
              </a:ext>
            </a:extLst>
          </p:cNvPr>
          <p:cNvGrpSpPr/>
          <p:nvPr/>
        </p:nvGrpSpPr>
        <p:grpSpPr>
          <a:xfrm>
            <a:off x="6172200" y="1856232"/>
            <a:ext cx="2560320" cy="2990088"/>
            <a:chOff x="6172200" y="2057400"/>
            <a:chExt cx="2560320" cy="2990088"/>
          </a:xfrm>
        </p:grpSpPr>
        <p:sp>
          <p:nvSpPr>
            <p:cNvPr id="7" name="Shape 4"/>
            <p:cNvSpPr/>
            <p:nvPr/>
          </p:nvSpPr>
          <p:spPr>
            <a:xfrm>
              <a:off x="6172200" y="2057400"/>
              <a:ext cx="2560320" cy="658368"/>
            </a:xfrm>
            <a:prstGeom prst="rect">
              <a:avLst/>
            </a:prstGeom>
            <a:solidFill>
              <a:srgbClr val="1A3A6B"/>
            </a:solidFill>
            <a:ln w="12700">
              <a:solidFill>
                <a:srgbClr val="1A3A6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 5"/>
            <p:cNvSpPr/>
            <p:nvPr/>
          </p:nvSpPr>
          <p:spPr>
            <a:xfrm>
              <a:off x="6217920" y="2103120"/>
              <a:ext cx="3200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500" dirty="0"/>
            </a:p>
          </p:txBody>
        </p:sp>
        <p:sp>
          <p:nvSpPr>
            <p:cNvPr id="9" name="Text 6"/>
            <p:cNvSpPr/>
            <p:nvPr/>
          </p:nvSpPr>
          <p:spPr>
            <a:xfrm>
              <a:off x="6537960" y="2084832"/>
              <a:ext cx="21488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Overfitting eliminated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(3× → 0× loss gap)</a:t>
              </a:r>
              <a:endParaRPr lang="en-US" sz="11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6172200" y="2834640"/>
              <a:ext cx="2560320" cy="658368"/>
            </a:xfrm>
            <a:prstGeom prst="rect">
              <a:avLst/>
            </a:prstGeom>
            <a:solidFill>
              <a:srgbClr val="1A3A6B"/>
            </a:solidFill>
            <a:ln w="12700">
              <a:solidFill>
                <a:srgbClr val="1A3A6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8"/>
            <p:cNvSpPr/>
            <p:nvPr/>
          </p:nvSpPr>
          <p:spPr>
            <a:xfrm>
              <a:off x="6217920" y="2880360"/>
              <a:ext cx="3200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500" dirty="0"/>
            </a:p>
          </p:txBody>
        </p:sp>
        <p:sp>
          <p:nvSpPr>
            <p:cNvPr id="12" name="Text 9"/>
            <p:cNvSpPr/>
            <p:nvPr/>
          </p:nvSpPr>
          <p:spPr>
            <a:xfrm>
              <a:off x="6537960" y="2862072"/>
              <a:ext cx="21488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Real Recall lifted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from coin-flip ~48%</a:t>
              </a:r>
              <a:endParaRPr lang="en-US" sz="1100" dirty="0"/>
            </a:p>
          </p:txBody>
        </p:sp>
        <p:sp>
          <p:nvSpPr>
            <p:cNvPr id="13" name="Shape 10"/>
            <p:cNvSpPr/>
            <p:nvPr/>
          </p:nvSpPr>
          <p:spPr>
            <a:xfrm>
              <a:off x="6172200" y="3611880"/>
              <a:ext cx="2560320" cy="658368"/>
            </a:xfrm>
            <a:prstGeom prst="rect">
              <a:avLst/>
            </a:prstGeom>
            <a:solidFill>
              <a:srgbClr val="1A3A6B"/>
            </a:solidFill>
            <a:ln w="12700">
              <a:solidFill>
                <a:srgbClr val="1A3A6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 11"/>
            <p:cNvSpPr/>
            <p:nvPr/>
          </p:nvSpPr>
          <p:spPr>
            <a:xfrm>
              <a:off x="6217920" y="3657600"/>
              <a:ext cx="3200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06B6D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✓</a:t>
              </a:r>
              <a:endParaRPr lang="en-US" sz="1500" dirty="0"/>
            </a:p>
          </p:txBody>
        </p:sp>
        <p:sp>
          <p:nvSpPr>
            <p:cNvPr id="15" name="Text 12"/>
            <p:cNvSpPr/>
            <p:nvPr/>
          </p:nvSpPr>
          <p:spPr>
            <a:xfrm>
              <a:off x="6537960" y="3639312"/>
              <a:ext cx="21488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Head B stable at 45%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(vs 16.7% random)</a:t>
              </a:r>
              <a:endParaRPr lang="en-US" sz="11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6172200" y="4389120"/>
              <a:ext cx="2560320" cy="658368"/>
            </a:xfrm>
            <a:prstGeom prst="rect">
              <a:avLst/>
            </a:prstGeom>
            <a:solidFill>
              <a:srgbClr val="1A3A6B"/>
            </a:solidFill>
            <a:ln w="12700">
              <a:solidFill>
                <a:srgbClr val="1A3A6B"/>
              </a:solidFill>
              <a:prstDash val="solid"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 14"/>
            <p:cNvSpPr/>
            <p:nvPr/>
          </p:nvSpPr>
          <p:spPr>
            <a:xfrm>
              <a:off x="6217920" y="4434840"/>
              <a:ext cx="320040" cy="5669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5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!</a:t>
              </a:r>
              <a:endParaRPr lang="en-US" sz="1500" dirty="0"/>
            </a:p>
          </p:txBody>
        </p:sp>
        <p:sp>
          <p:nvSpPr>
            <p:cNvPr id="18" name="Text 15"/>
            <p:cNvSpPr/>
            <p:nvPr/>
          </p:nvSpPr>
          <p:spPr>
            <a:xfrm>
              <a:off x="6537960" y="4416552"/>
              <a:ext cx="214884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97%+ detection accuracy</a:t>
              </a:r>
              <a:endParaRPr lang="en-US" sz="1100" dirty="0"/>
            </a:p>
            <a:p>
              <a:pPr marL="0" indent="0">
                <a:buNone/>
              </a:pPr>
              <a:r>
                <a:rPr lang="en-US" sz="1100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on validation set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RESULTS — TEST SET (45,000 IMAGES)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Performance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402336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4996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A — Binary Detection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920240"/>
            <a:ext cx="1261872" cy="10515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9659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53.4%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11480" y="245059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Recall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764792" y="1920240"/>
            <a:ext cx="1261872" cy="10515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764792" y="19659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82.7%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764792" y="245059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 Recall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18104" y="1920240"/>
            <a:ext cx="1261872" cy="10515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118104" y="1965960"/>
            <a:ext cx="1261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118104" y="2450592"/>
            <a:ext cx="12618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1481328"/>
            <a:ext cx="406908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63440" y="1499616"/>
            <a:ext cx="4069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B — Generator Attribution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920240"/>
          <a:ext cx="4069080" cy="243230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2.1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SDXL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SD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DALL·E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Midjourney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0891B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11480" y="473659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Attribution Accuracy: ~45%   (Random baseline = 16.7%)  /  2.7× better than chance</a:t>
            </a:r>
            <a:endParaRPr lang="en-US" sz="1100" dirty="0">
              <a:solidFill>
                <a:srgbClr val="0D1B3E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— TRAINING CURVES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Training Curves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335024"/>
            <a:ext cx="457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444752"/>
            <a:ext cx="8321040" cy="283464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6459455-12C5-5AAA-A7D1-08B396711F57}"/>
              </a:ext>
            </a:extLst>
          </p:cNvPr>
          <p:cNvGrpSpPr/>
          <p:nvPr/>
        </p:nvGrpSpPr>
        <p:grpSpPr>
          <a:xfrm>
            <a:off x="868680" y="4416200"/>
            <a:ext cx="7406640" cy="621792"/>
            <a:chOff x="502920" y="4434840"/>
            <a:chExt cx="7406640" cy="621792"/>
          </a:xfrm>
        </p:grpSpPr>
        <p:sp>
          <p:nvSpPr>
            <p:cNvPr id="7" name="Text 4"/>
            <p:cNvSpPr/>
            <p:nvPr/>
          </p:nvSpPr>
          <p:spPr>
            <a:xfrm>
              <a:off x="502920" y="443484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97%+</a:t>
              </a:r>
              <a:endParaRPr lang="en-US" sz="2000" dirty="0"/>
            </a:p>
          </p:txBody>
        </p:sp>
        <p:sp>
          <p:nvSpPr>
            <p:cNvPr id="8" name="Text 5"/>
            <p:cNvSpPr/>
            <p:nvPr/>
          </p:nvSpPr>
          <p:spPr>
            <a:xfrm>
              <a:off x="502920" y="4782312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 Detection Accuracy</a:t>
              </a:r>
              <a:endParaRPr lang="en-US" sz="1000" dirty="0"/>
            </a:p>
          </p:txBody>
        </p:sp>
        <p:sp>
          <p:nvSpPr>
            <p:cNvPr id="10" name="Text 7"/>
            <p:cNvSpPr/>
            <p:nvPr/>
          </p:nvSpPr>
          <p:spPr>
            <a:xfrm>
              <a:off x="3063240" y="443484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94.5%</a:t>
              </a:r>
              <a:endParaRPr lang="en-US" sz="200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3063240" y="4782312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Val Attribution Accuracy</a:t>
              </a:r>
              <a:endParaRPr lang="en-US" sz="1000" dirty="0"/>
            </a:p>
          </p:txBody>
        </p:sp>
        <p:sp>
          <p:nvSpPr>
            <p:cNvPr id="13" name="Text 10"/>
            <p:cNvSpPr/>
            <p:nvPr/>
          </p:nvSpPr>
          <p:spPr>
            <a:xfrm>
              <a:off x="5623560" y="4434840"/>
              <a:ext cx="2286000" cy="34747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0891B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~0×</a:t>
              </a:r>
              <a:endParaRPr lang="en-US" sz="2000" dirty="0"/>
            </a:p>
          </p:txBody>
        </p:sp>
        <p:sp>
          <p:nvSpPr>
            <p:cNvPr id="14" name="Text 11"/>
            <p:cNvSpPr/>
            <p:nvPr/>
          </p:nvSpPr>
          <p:spPr>
            <a:xfrm>
              <a:off x="5623560" y="4782312"/>
              <a:ext cx="228600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CBD5E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Overfitting Eliminated</a:t>
              </a:r>
              <a:endParaRPr lang="en-US" sz="1000" dirty="0"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— CONFUSION MATRICES (TEST SET: 45,000 IMAGES)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Confusion Matrices</a:t>
            </a:r>
            <a:endParaRPr lang="en-US" sz="3000" dirty="0">
              <a:solidFill>
                <a:srgbClr val="0D1B3E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335024"/>
            <a:ext cx="457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5" name="Image 0" descr="/home/claude/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307" y="1490472"/>
            <a:ext cx="7561385" cy="285562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2319C46-B09F-3647-6DD1-49E25E9F5F80}"/>
              </a:ext>
            </a:extLst>
          </p:cNvPr>
          <p:cNvGrpSpPr/>
          <p:nvPr/>
        </p:nvGrpSpPr>
        <p:grpSpPr>
          <a:xfrm>
            <a:off x="484631" y="4611277"/>
            <a:ext cx="8174736" cy="365760"/>
            <a:chOff x="411480" y="4681728"/>
            <a:chExt cx="8174736" cy="365760"/>
          </a:xfrm>
        </p:grpSpPr>
        <p:sp>
          <p:nvSpPr>
            <p:cNvPr id="6" name="Shape 3"/>
            <p:cNvSpPr/>
            <p:nvPr/>
          </p:nvSpPr>
          <p:spPr>
            <a:xfrm>
              <a:off x="411480" y="4681728"/>
              <a:ext cx="1920240" cy="365760"/>
            </a:xfrm>
            <a:prstGeom prst="rect">
              <a:avLst/>
            </a:prstGeom>
            <a:solidFill>
              <a:srgbClr val="1A3A6B"/>
            </a:solidFill>
            <a:ln/>
            <a:effectLst>
              <a:outerShdw blurRad="1016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4"/>
            <p:cNvSpPr/>
            <p:nvPr/>
          </p:nvSpPr>
          <p:spPr>
            <a:xfrm>
              <a:off x="484632" y="4709160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F59E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53.4%  Real Recall (Head A)</a:t>
              </a:r>
              <a:endParaRPr lang="en-US" sz="105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2496312" y="4681728"/>
              <a:ext cx="1920240" cy="365760"/>
            </a:xfrm>
            <a:prstGeom prst="rect">
              <a:avLst/>
            </a:prstGeom>
            <a:solidFill>
              <a:srgbClr val="1A3A6B"/>
            </a:solidFill>
            <a:ln/>
            <a:effectLst>
              <a:outerShdw blurRad="1016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 6"/>
            <p:cNvSpPr/>
            <p:nvPr/>
          </p:nvSpPr>
          <p:spPr>
            <a:xfrm>
              <a:off x="2569464" y="4709160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22C55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82.7%  AI-Gen Recall (Head A)</a:t>
              </a:r>
              <a:endParaRPr lang="en-US" sz="105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4581144" y="4681728"/>
              <a:ext cx="1920240" cy="365760"/>
            </a:xfrm>
            <a:prstGeom prst="rect">
              <a:avLst/>
            </a:prstGeom>
            <a:solidFill>
              <a:srgbClr val="1A3A6B"/>
            </a:solidFill>
            <a:ln/>
            <a:effectLst>
              <a:outerShdw blurRad="1016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 8"/>
            <p:cNvSpPr/>
            <p:nvPr/>
          </p:nvSpPr>
          <p:spPr>
            <a:xfrm>
              <a:off x="4654296" y="4709160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891B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0.78  Weighted F1 (Head A)</a:t>
              </a:r>
              <a:endParaRPr lang="en-US" sz="105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6665976" y="4681728"/>
              <a:ext cx="1920240" cy="365760"/>
            </a:xfrm>
            <a:prstGeom prst="rect">
              <a:avLst/>
            </a:prstGeom>
            <a:solidFill>
              <a:srgbClr val="1A3A6B"/>
            </a:solidFill>
            <a:ln/>
            <a:effectLst>
              <a:outerShdw blurRad="101600" dist="25400" dir="8100000" algn="bl" rotWithShape="0">
                <a:srgbClr val="000000">
                  <a:alpha val="18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0"/>
            <p:cNvSpPr/>
            <p:nvPr/>
          </p:nvSpPr>
          <p:spPr>
            <a:xfrm>
              <a:off x="6739128" y="4709160"/>
              <a:ext cx="1828800" cy="3108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050" b="1" dirty="0">
                  <a:solidFill>
                    <a:srgbClr val="06B6D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~45%  Attribution Accuracy (Head B)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HONEST ANALYSIS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Limitations &amp; Why They Exist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335024"/>
            <a:ext cx="457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481328"/>
            <a:ext cx="8321040" cy="96012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94360" y="154533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Real Recall caps around 53%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Root cause: 1:5 class imbalance — model has 5× more synthetic examples. SMOTE on raw pixels creates ghosting artifacts. Weighted loss is the correct DL-native fix.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11480" y="2578608"/>
            <a:ext cx="8321040" cy="96012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11480" y="2578608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594360" y="26426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SD 2.1 / SDXL / SD 3 Confusion (Head B)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4360" y="299923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share the same UNet diffusion backbone architecture. They produce statistically similar noise patterns — even Corvi et al. (2023) struggle with this in forensic literature.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11480" y="3675888"/>
            <a:ext cx="8321040" cy="960120"/>
          </a:xfrm>
          <a:prstGeom prst="rect">
            <a:avLst/>
          </a:prstGeom>
          <a:solidFill>
            <a:srgbClr val="1A3A6B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11480" y="3675888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4360" y="373989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DALL·E 3 and Midjourney are easier to attribute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4096512"/>
            <a:ext cx="8046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DALL·E 3 uses an autoregressive architecture (different fingerprint); Midjourney uses proprietary training data (unique distribution). Both have more distinguishable forensic signatures.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11480" y="4800600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These are not implementation failures — they are documented characteristics of the forensic problem domain.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3716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0" cap="none" spc="300" normalizeH="0" baseline="0" noProof="0" dirty="0">
                <a:ln>
                  <a:noFill/>
                </a:ln>
                <a:solidFill>
                  <a:srgbClr val="06B6D4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11480" y="475488"/>
            <a:ext cx="8321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0D1B3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XAI: Where Does the Model Look?</a:t>
            </a:r>
            <a:endParaRPr kumimoji="0" 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335024"/>
            <a:ext cx="45720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11480" y="1516497"/>
            <a:ext cx="4023360" cy="31089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4023360" cy="402336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11480" y="14996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5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521208" y="1938528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Attention Rollout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1208" y="2395728"/>
            <a:ext cx="382219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Aggregates attention weights across all 12 ViT layers. Produces a spatial heatmap showing which image regions most influenced the prediction, often highlights unnatural textures, impossible reflections, and deformed hands.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208" y="41330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Shows broad forensic regions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1481328"/>
            <a:ext cx="4023360" cy="3108960"/>
          </a:xfrm>
          <a:prstGeom prst="rect">
            <a:avLst/>
          </a:prstGeom>
          <a:solidFill>
            <a:srgbClr val="0D1B3E"/>
          </a:solidFill>
          <a:ln/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663440" y="1481328"/>
            <a:ext cx="4023360" cy="402336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663440" y="149961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5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WHAT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773168" y="1938528"/>
            <a:ext cx="3822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Gradient-Based Saliency Maps</a:t>
            </a:r>
            <a:endParaRPr kumimoji="0" lang="en-US" sz="1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773168" y="2395728"/>
            <a:ext cx="3822192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BD5E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Computes pixel-level gradients with respect to the predicted class. Shows exactly which pixels had the highest impact on the decision, drills down to sub-region level. Complementary to Attention Rollout.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773168" y="413308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Shows specific pixels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94360" y="4718304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differentiator: No commercial detector gives visual proof of its reasoning. We show WHERE and WHY</a:t>
            </a: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not just IF.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AI-Trust Forensic Suite: Live Dashboard</a:t>
            </a:r>
            <a:endParaRPr lang="en-US" sz="2800" dirty="0">
              <a:solidFill>
                <a:schemeClr val="bg1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4713029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Interactive Web Application:</a:t>
            </a:r>
            <a:r>
              <a:rPr lang="en-US" sz="1600" dirty="0">
                <a:solidFill>
                  <a:schemeClr val="bg1"/>
                </a:solidFill>
              </a:rPr>
              <a:t> </a:t>
            </a:r>
            <a:r>
              <a:rPr lang="en-US" sz="1600" u="sng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https://datscapstoneproject.streamlit.app/</a:t>
            </a:r>
            <a:endParaRPr lang="en-US" sz="1050" dirty="0">
              <a:solidFill>
                <a:schemeClr val="bg1"/>
              </a:solidFill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35D0A3EB-88C5-BBE0-C50B-8E05D17B8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33" y="1476392"/>
            <a:ext cx="7627534" cy="30091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11480" y="50292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&amp; Future Directions</a:t>
            </a:r>
            <a:endParaRPr lang="en-US" sz="2800" dirty="0">
              <a:solidFill>
                <a:srgbClr val="0D1B3E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11480" y="1298448"/>
            <a:ext cx="5029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14173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4846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multi-task forensic system that detects AND attributes AI-generated images in a single forward pass</a:t>
            </a:r>
            <a:endParaRPr lang="en-US" sz="1200" dirty="0">
              <a:solidFill>
                <a:srgbClr val="0D1B3E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Iterative, data-driven improvement, diagnosed bias, applied targeted fixes (weighted loss, L1/L2, layer unfreezing)</a:t>
            </a:r>
            <a:endParaRPr lang="en-US" sz="1200" dirty="0">
              <a:solidFill>
                <a:srgbClr val="0D1B3E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Explainable AI (Attention Rollout + Saliency Maps) to bridge the Forensic Transparency Gap</a:t>
            </a:r>
            <a:endParaRPr lang="en-US" sz="1200" dirty="0">
              <a:solidFill>
                <a:srgbClr val="0D1B3E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interactive dashboard for non-technical users, fully open-source</a:t>
            </a:r>
            <a:endParaRPr lang="en-US" sz="1200" dirty="0">
              <a:solidFill>
                <a:srgbClr val="0D1B3E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5486400" y="14173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73736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ViT-Large / DINOv2 backbone</a:t>
            </a:r>
            <a:endParaRPr lang="en-US" sz="1200" dirty="0">
              <a:solidFill>
                <a:srgbClr val="0D1B3E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video forensics</a:t>
            </a:r>
            <a:endParaRPr lang="en-US" sz="1200" dirty="0">
              <a:solidFill>
                <a:srgbClr val="0D1B3E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 robustness testing</a:t>
            </a:r>
            <a:endParaRPr lang="en-US" sz="1200" dirty="0">
              <a:solidFill>
                <a:srgbClr val="0D1B3E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browser extension</a:t>
            </a:r>
            <a:endParaRPr lang="en-US" sz="1200" dirty="0">
              <a:solidFill>
                <a:srgbClr val="0D1B3E"/>
              </a:solidFill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learning for new generators (Flux, Imagen 3)</a:t>
            </a:r>
            <a:endParaRPr lang="en-US" sz="1200" dirty="0">
              <a:solidFill>
                <a:srgbClr val="0D1B3E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5303520" y="1417320"/>
            <a:ext cx="0" cy="2926080"/>
          </a:xfrm>
          <a:prstGeom prst="line">
            <a:avLst/>
          </a:prstGeom>
          <a:noFill/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45811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-  Questions?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892040" y="4582199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G36308827  |  DATS 6499  |  GWU Spring 2026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2777</TotalTime>
  <Words>1319</Words>
  <Application>Microsoft Office PowerPoint</Application>
  <PresentationFormat>On-screen Show (16:9)</PresentationFormat>
  <Paragraphs>285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Segoe UI Emoji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AI-Trust Forensic Suite — Final Presentation</dc:title>
  <dc:subject>PptxGenJS Presentation</dc:subject>
  <dc:creator>Mohammed Hussain Nathani</dc:creator>
  <cp:lastModifiedBy>Nathani, Hussain</cp:lastModifiedBy>
  <cp:revision>2</cp:revision>
  <dcterms:created xsi:type="dcterms:W3CDTF">2026-04-16T08:36:11Z</dcterms:created>
  <dcterms:modified xsi:type="dcterms:W3CDTF">2026-04-18T06:57:21Z</dcterms:modified>
</cp:coreProperties>
</file>